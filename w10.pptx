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</p:sldMasterIdLst>
  <p:notesMasterIdLst>
    <p:notesMasterId r:id="rId10"/>
  </p:notesMasterIdLst>
  <p:handoutMasterIdLst>
    <p:handoutMasterId r:id="rId11"/>
  </p:handoutMasterIdLst>
  <p:sldIdLst>
    <p:sldId id="463" r:id="rId3"/>
    <p:sldId id="364" r:id="rId4"/>
    <p:sldId id="470" r:id="rId5"/>
    <p:sldId id="451" r:id="rId6"/>
    <p:sldId id="465" r:id="rId7"/>
    <p:sldId id="464" r:id="rId8"/>
    <p:sldId id="320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2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马奇" initials="马奇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E89E00"/>
    <a:srgbClr val="FF9900"/>
    <a:srgbClr val="FFCCCC"/>
    <a:srgbClr val="D8BBA1"/>
    <a:srgbClr val="E2C718"/>
    <a:srgbClr val="D61621"/>
    <a:srgbClr val="FFD002"/>
    <a:srgbClr val="FF6666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18" autoAdjust="0"/>
    <p:restoredTop sz="79859" autoAdjust="0"/>
  </p:normalViewPr>
  <p:slideViewPr>
    <p:cSldViewPr snapToGrid="0" showGuides="1">
      <p:cViewPr varScale="1">
        <p:scale>
          <a:sx n="85" d="100"/>
          <a:sy n="85" d="100"/>
        </p:scale>
        <p:origin x="688" y="48"/>
      </p:cViewPr>
      <p:guideLst>
        <p:guide pos="3840"/>
        <p:guide orient="horz" pos="22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235978-AA0F-4019-89CE-7C0DBBEECEE6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629C50-E8D2-44C1-A6BB-3798535718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/>
        </p:nvSpPr>
        <p:spPr>
          <a:xfrm rot="5400000">
            <a:off x="4050259" y="-4050255"/>
            <a:ext cx="1802935" cy="990345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9" name="任意多边形 8"/>
          <p:cNvSpPr/>
          <p:nvPr userDrawn="1"/>
        </p:nvSpPr>
        <p:spPr>
          <a:xfrm flipH="1">
            <a:off x="10111813" y="1412240"/>
            <a:ext cx="2080184" cy="5445760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10" name="任意多边形 9"/>
          <p:cNvSpPr/>
          <p:nvPr userDrawn="1"/>
        </p:nvSpPr>
        <p:spPr>
          <a:xfrm rot="5400000">
            <a:off x="2385073" y="-2385070"/>
            <a:ext cx="1061693" cy="5831840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11" name="任意多边形 10"/>
          <p:cNvSpPr/>
          <p:nvPr userDrawn="1"/>
        </p:nvSpPr>
        <p:spPr>
          <a:xfrm rot="5400000">
            <a:off x="1483399" y="-1483401"/>
            <a:ext cx="660321" cy="3627120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12" name="任意多边形 11"/>
          <p:cNvSpPr/>
          <p:nvPr userDrawn="1"/>
        </p:nvSpPr>
        <p:spPr>
          <a:xfrm flipH="1">
            <a:off x="10993120" y="3719437"/>
            <a:ext cx="1198876" cy="3138563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9273790" y="-94255"/>
            <a:ext cx="2995243" cy="1264792"/>
            <a:chOff x="8303568" y="2694"/>
            <a:chExt cx="3888434" cy="1641957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81156" y="221822"/>
              <a:ext cx="2909748" cy="1422829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/>
          </p:nvSpPr>
          <p:spPr>
            <a:xfrm>
              <a:off x="8303571" y="2694"/>
              <a:ext cx="3888431" cy="6069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上海仪酷智能科技有限公司</a:t>
              </a:r>
              <a:endParaRPr lang="en-US" altLang="zh-CN" sz="3200" dirty="0">
                <a:solidFill>
                  <a:srgbClr val="0070C0"/>
                </a:solidFill>
                <a:latin typeface="+mj-lt"/>
                <a:ea typeface="华文新魏" panose="02010800040101010101" pitchFamily="2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8303568" y="274888"/>
              <a:ext cx="3888431" cy="9797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3200" dirty="0">
                  <a:solidFill>
                    <a:srgbClr val="0070C0"/>
                  </a:solidFill>
                  <a:ea typeface="华文新魏" panose="02010800040101010101" pitchFamily="2" charset="-122"/>
                </a:rPr>
                <a:t>VI</a:t>
              </a:r>
              <a:r>
                <a:rPr lang="en-US" altLang="zh-CN" sz="3200" dirty="0">
                  <a:solidFill>
                    <a:schemeClr val="bg1">
                      <a:lumMod val="65000"/>
                    </a:schemeClr>
                  </a:solidFill>
                  <a:ea typeface="华文新魏" panose="02010800040101010101" pitchFamily="2" charset="-122"/>
                </a:rPr>
                <a:t>R </a:t>
              </a:r>
              <a:r>
                <a:rPr lang="en-US" altLang="zh-CN" sz="3200" dirty="0">
                  <a:ea typeface="华文新魏" panose="02010800040101010101" pitchFamily="2" charset="-122"/>
                </a:rPr>
                <a:t>      </a:t>
              </a:r>
              <a:r>
                <a:rPr lang="en-US" altLang="zh-CN" sz="3200" dirty="0">
                  <a:solidFill>
                    <a:schemeClr val="bg1">
                      <a:lumMod val="65000"/>
                    </a:schemeClr>
                  </a:solidFill>
                  <a:ea typeface="华文新魏" panose="02010800040101010101" pitchFamily="2" charset="-122"/>
                </a:rPr>
                <a:t>tics</a:t>
              </a:r>
            </a:p>
          </p:txBody>
        </p:sp>
      </p:grpSp>
      <p:sp>
        <p:nvSpPr>
          <p:cNvPr id="16" name="任意多边形 15"/>
          <p:cNvSpPr/>
          <p:nvPr userDrawn="1"/>
        </p:nvSpPr>
        <p:spPr>
          <a:xfrm rot="5400000" flipH="1">
            <a:off x="140597" y="5298178"/>
            <a:ext cx="1419223" cy="170041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17" name="任意多边形 16"/>
          <p:cNvSpPr/>
          <p:nvPr userDrawn="1"/>
        </p:nvSpPr>
        <p:spPr>
          <a:xfrm rot="5400000" flipH="1">
            <a:off x="86469" y="5898692"/>
            <a:ext cx="872838" cy="104577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H_Others_1"/>
          <p:cNvSpPr/>
          <p:nvPr userDrawn="1">
            <p:custDataLst>
              <p:tags r:id="rId1"/>
            </p:custDataLst>
          </p:nvPr>
        </p:nvSpPr>
        <p:spPr>
          <a:xfrm>
            <a:off x="10312400" y="449"/>
            <a:ext cx="1879600" cy="6857551"/>
          </a:xfrm>
          <a:prstGeom prst="rect">
            <a:avLst/>
          </a:pr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59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4" name="MH_Others_2"/>
          <p:cNvSpPr/>
          <p:nvPr userDrawn="1">
            <p:custDataLst>
              <p:tags r:id="rId2"/>
            </p:custDataLst>
          </p:nvPr>
        </p:nvSpPr>
        <p:spPr>
          <a:xfrm>
            <a:off x="10011847" y="1"/>
            <a:ext cx="132066" cy="6861462"/>
          </a:xfrm>
          <a:prstGeom prst="rect">
            <a:avLst/>
          </a:pr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首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 userDrawn="1"/>
        </p:nvSpPr>
        <p:spPr>
          <a:xfrm>
            <a:off x="0" y="4438650"/>
            <a:ext cx="12188991" cy="2426627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  <a:gd name="connsiteX0-15" fmla="*/ 0 w 6907593"/>
              <a:gd name="connsiteY0-16" fmla="*/ 0 h 1776503"/>
              <a:gd name="connsiteX1-17" fmla="*/ 6907593 w 6907593"/>
              <a:gd name="connsiteY1-18" fmla="*/ 1776503 h 1776503"/>
              <a:gd name="connsiteX2-19" fmla="*/ 0 w 6907593"/>
              <a:gd name="connsiteY2-20" fmla="*/ 1776503 h 1776503"/>
              <a:gd name="connsiteX3-21" fmla="*/ 0 w 6907593"/>
              <a:gd name="connsiteY3-22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2091413" y="1639688"/>
                  <a:pt x="4374752" y="158722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3" name="任意多边形 2"/>
          <p:cNvSpPr/>
          <p:nvPr userDrawn="1"/>
        </p:nvSpPr>
        <p:spPr>
          <a:xfrm flipH="1">
            <a:off x="6229348" y="5057775"/>
            <a:ext cx="5969693" cy="180773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1979235" y="1345282"/>
                  <a:pt x="4428718" y="176628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cxnSp>
        <p:nvCxnSpPr>
          <p:cNvPr id="6" name="直接连接符 5"/>
          <p:cNvCxnSpPr/>
          <p:nvPr userDrawn="1"/>
        </p:nvCxnSpPr>
        <p:spPr>
          <a:xfrm flipV="1">
            <a:off x="5013503" y="2190063"/>
            <a:ext cx="0" cy="199735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042969" y="2258053"/>
            <a:ext cx="1476644" cy="1476644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9" name="同心圆 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+mj-ea"/>
                <a:ea typeface="+mj-ea"/>
              </a:endParaRPr>
            </a:p>
          </p:txBody>
        </p:sp>
        <p:sp>
          <p:nvSpPr>
            <p:cNvPr id="10" name="椭圆 9"/>
            <p:cNvSpPr/>
            <p:nvPr userDrawn="1"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12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3455" y="349038"/>
            <a:ext cx="1569142" cy="39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任意多边形 10"/>
          <p:cNvSpPr/>
          <p:nvPr userDrawn="1"/>
        </p:nvSpPr>
        <p:spPr>
          <a:xfrm rot="10800000" flipH="1">
            <a:off x="1" y="-4"/>
            <a:ext cx="2657474" cy="1752604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1979235" y="1345282"/>
                  <a:pt x="4428718" y="176628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新年快乐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2151"/>
            <a:ext cx="2395959" cy="1564128"/>
          </a:xfrm>
          <a:prstGeom prst="rect">
            <a:avLst/>
          </a:prstGeom>
        </p:spPr>
      </p:pic>
      <p:pic>
        <p:nvPicPr>
          <p:cNvPr id="13" name="Picture 8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3455" y="349038"/>
            <a:ext cx="1569142" cy="39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任意多边形 13"/>
          <p:cNvSpPr/>
          <p:nvPr userDrawn="1"/>
        </p:nvSpPr>
        <p:spPr>
          <a:xfrm>
            <a:off x="0" y="4438650"/>
            <a:ext cx="12188991" cy="2426627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  <a:gd name="connsiteX0-15" fmla="*/ 0 w 6907593"/>
              <a:gd name="connsiteY0-16" fmla="*/ 0 h 1776503"/>
              <a:gd name="connsiteX1-17" fmla="*/ 6907593 w 6907593"/>
              <a:gd name="connsiteY1-18" fmla="*/ 1776503 h 1776503"/>
              <a:gd name="connsiteX2-19" fmla="*/ 0 w 6907593"/>
              <a:gd name="connsiteY2-20" fmla="*/ 1776503 h 1776503"/>
              <a:gd name="connsiteX3-21" fmla="*/ 0 w 6907593"/>
              <a:gd name="connsiteY3-22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2091413" y="1639688"/>
                  <a:pt x="4374752" y="158722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D6162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15" name="任意多边形 14"/>
          <p:cNvSpPr/>
          <p:nvPr userDrawn="1"/>
        </p:nvSpPr>
        <p:spPr>
          <a:xfrm flipH="1">
            <a:off x="6229348" y="5057775"/>
            <a:ext cx="5969693" cy="180773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1979235" y="1345282"/>
                  <a:pt x="4428718" y="176628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E2C71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51064" y="748598"/>
            <a:ext cx="1221533" cy="45097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35360" y="277337"/>
            <a:ext cx="576064" cy="559375"/>
            <a:chOff x="298460" y="987574"/>
            <a:chExt cx="288032" cy="279687"/>
          </a:xfrm>
        </p:grpSpPr>
        <p:sp>
          <p:nvSpPr>
            <p:cNvPr id="9" name="矩形 8"/>
            <p:cNvSpPr/>
            <p:nvPr/>
          </p:nvSpPr>
          <p:spPr>
            <a:xfrm>
              <a:off x="298460" y="987574"/>
              <a:ext cx="216024" cy="21602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/>
            </a:p>
          </p:txBody>
        </p:sp>
        <p:sp>
          <p:nvSpPr>
            <p:cNvPr id="10" name="矩形 9"/>
            <p:cNvSpPr/>
            <p:nvPr/>
          </p:nvSpPr>
          <p:spPr>
            <a:xfrm>
              <a:off x="406472" y="1087241"/>
              <a:ext cx="180020" cy="180020"/>
            </a:xfrm>
            <a:prstGeom prst="rect">
              <a:avLst/>
            </a:prstGeom>
            <a:solidFill>
              <a:srgbClr val="E89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/>
            </a:p>
          </p:txBody>
        </p:sp>
      </p:grpSp>
      <p:pic>
        <p:nvPicPr>
          <p:cNvPr id="11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3455" y="349038"/>
            <a:ext cx="1569142" cy="39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直角三角形 2"/>
          <p:cNvSpPr/>
          <p:nvPr userDrawn="1"/>
        </p:nvSpPr>
        <p:spPr>
          <a:xfrm rot="10800000">
            <a:off x="84662" y="-2"/>
            <a:ext cx="12107337" cy="349040"/>
          </a:xfrm>
          <a:prstGeom prst="rtTriangle">
            <a:avLst/>
          </a:prstGeom>
          <a:gradFill flip="none" rotWithShape="1">
            <a:gsLst>
              <a:gs pos="0">
                <a:srgbClr val="5CC1EA">
                  <a:shade val="30000"/>
                  <a:satMod val="115000"/>
                  <a:alpha val="31000"/>
                </a:srgbClr>
              </a:gs>
              <a:gs pos="50000">
                <a:srgbClr val="5CC1EA">
                  <a:shade val="67500"/>
                  <a:satMod val="115000"/>
                </a:srgbClr>
              </a:gs>
              <a:gs pos="100000">
                <a:srgbClr val="5CC1EA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直角三角形 13"/>
          <p:cNvSpPr/>
          <p:nvPr userDrawn="1"/>
        </p:nvSpPr>
        <p:spPr>
          <a:xfrm>
            <a:off x="0" y="6417733"/>
            <a:ext cx="12107336" cy="440267"/>
          </a:xfrm>
          <a:prstGeom prst="rtTriangl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0">
                <a:schemeClr val="accent4">
                  <a:lumMod val="0"/>
                  <a:lumOff val="100000"/>
                </a:schemeClr>
              </a:gs>
              <a:gs pos="39000">
                <a:schemeClr val="accent4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任意多边形 23"/>
          <p:cNvSpPr/>
          <p:nvPr userDrawn="1"/>
        </p:nvSpPr>
        <p:spPr>
          <a:xfrm rot="10800000" flipH="1">
            <a:off x="-3" y="-2"/>
            <a:ext cx="4563538" cy="2514602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sp>
        <p:nvSpPr>
          <p:cNvPr id="8" name="任意多边形 7"/>
          <p:cNvSpPr/>
          <p:nvPr userDrawn="1"/>
        </p:nvSpPr>
        <p:spPr>
          <a:xfrm rot="5400000">
            <a:off x="3805768" y="-3805763"/>
            <a:ext cx="1168396" cy="8779937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 rot="5400000">
            <a:off x="1697568" y="-1697564"/>
            <a:ext cx="1168399" cy="4563535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sp>
        <p:nvSpPr>
          <p:cNvPr id="11" name="任意多边形 10"/>
          <p:cNvSpPr/>
          <p:nvPr userDrawn="1"/>
        </p:nvSpPr>
        <p:spPr>
          <a:xfrm rot="5400000">
            <a:off x="1127283" y="-1127283"/>
            <a:ext cx="827303" cy="3081870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9239095" y="76203"/>
            <a:ext cx="3666413" cy="1775426"/>
            <a:chOff x="9196760" y="0"/>
            <a:chExt cx="3666413" cy="1775426"/>
          </a:xfrm>
        </p:grpSpPr>
        <p:pic>
          <p:nvPicPr>
            <p:cNvPr id="13" name="图片 12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2065" y="307923"/>
              <a:ext cx="3001108" cy="1467503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/>
          </p:nvSpPr>
          <p:spPr>
            <a:xfrm>
              <a:off x="9196760" y="0"/>
              <a:ext cx="29952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prstClr val="black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上海交通大学工程训练中心</a:t>
              </a:r>
              <a:endParaRPr lang="en-US" altLang="zh-CN" dirty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algn="ctr"/>
              <a:r>
                <a:rPr lang="zh-CN" altLang="en-US" dirty="0">
                  <a:solidFill>
                    <a:prstClr val="black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上海仪酷智能科技有限公司</a:t>
              </a:r>
              <a:endParaRPr lang="en-US" altLang="zh-CN" dirty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pic>
          <p:nvPicPr>
            <p:cNvPr id="2" name="图片 1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70533" y="660321"/>
              <a:ext cx="762708" cy="762708"/>
            </a:xfrm>
            <a:prstGeom prst="rect">
              <a:avLst/>
            </a:prstGeom>
          </p:spPr>
        </p:pic>
      </p:grpSp>
      <p:grpSp>
        <p:nvGrpSpPr>
          <p:cNvPr id="62" name="组合 61"/>
          <p:cNvGrpSpPr/>
          <p:nvPr userDrawn="1"/>
        </p:nvGrpSpPr>
        <p:grpSpPr>
          <a:xfrm rot="10800000">
            <a:off x="8779935" y="4741014"/>
            <a:ext cx="3412065" cy="2116984"/>
            <a:chOff x="2810930" y="2822526"/>
            <a:chExt cx="8779937" cy="2526726"/>
          </a:xfrm>
        </p:grpSpPr>
        <p:sp>
          <p:nvSpPr>
            <p:cNvPr id="58" name="任意多边形 57"/>
            <p:cNvSpPr/>
            <p:nvPr userDrawn="1"/>
          </p:nvSpPr>
          <p:spPr>
            <a:xfrm rot="10800000" flipH="1">
              <a:off x="2810930" y="2834650"/>
              <a:ext cx="4563537" cy="2514602"/>
            </a:xfrm>
            <a:custGeom>
              <a:avLst/>
              <a:gdLst>
                <a:gd name="connsiteX0" fmla="*/ 0 w 6907593"/>
                <a:gd name="connsiteY0" fmla="*/ 0 h 1776503"/>
                <a:gd name="connsiteX1" fmla="*/ 6907593 w 6907593"/>
                <a:gd name="connsiteY1" fmla="*/ 1776503 h 1776503"/>
                <a:gd name="connsiteX2" fmla="*/ 0 w 6907593"/>
                <a:gd name="connsiteY2" fmla="*/ 1776503 h 1776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07593" h="1776503">
                  <a:moveTo>
                    <a:pt x="0" y="0"/>
                  </a:moveTo>
                  <a:lnTo>
                    <a:pt x="6907593" y="1776503"/>
                  </a:lnTo>
                  <a:lnTo>
                    <a:pt x="0" y="1776503"/>
                  </a:lnTo>
                  <a:close/>
                </a:path>
              </a:pathLst>
            </a:custGeom>
            <a:solidFill>
              <a:srgbClr val="E89E0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>
                <a:solidFill>
                  <a:prstClr val="white"/>
                </a:solidFill>
              </a:endParaRPr>
            </a:p>
          </p:txBody>
        </p:sp>
        <p:sp>
          <p:nvSpPr>
            <p:cNvPr id="59" name="任意多边形 58"/>
            <p:cNvSpPr/>
            <p:nvPr userDrawn="1"/>
          </p:nvSpPr>
          <p:spPr>
            <a:xfrm rot="5400000">
              <a:off x="6616701" y="-983237"/>
              <a:ext cx="1168396" cy="8779937"/>
            </a:xfrm>
            <a:custGeom>
              <a:avLst/>
              <a:gdLst>
                <a:gd name="connsiteX0" fmla="*/ 0 w 6907593"/>
                <a:gd name="connsiteY0" fmla="*/ 0 h 1776503"/>
                <a:gd name="connsiteX1" fmla="*/ 6907593 w 6907593"/>
                <a:gd name="connsiteY1" fmla="*/ 1776503 h 1776503"/>
                <a:gd name="connsiteX2" fmla="*/ 0 w 6907593"/>
                <a:gd name="connsiteY2" fmla="*/ 1776503 h 1776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07593" h="1776503">
                  <a:moveTo>
                    <a:pt x="0" y="0"/>
                  </a:moveTo>
                  <a:lnTo>
                    <a:pt x="6907593" y="1776503"/>
                  </a:lnTo>
                  <a:lnTo>
                    <a:pt x="0" y="1776503"/>
                  </a:lnTo>
                  <a:close/>
                </a:path>
              </a:pathLst>
            </a:custGeom>
            <a:solidFill>
              <a:srgbClr val="157DA8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>
                <a:solidFill>
                  <a:prstClr val="white"/>
                </a:solidFill>
              </a:endParaRPr>
            </a:p>
          </p:txBody>
        </p:sp>
        <p:sp>
          <p:nvSpPr>
            <p:cNvPr id="60" name="任意多边形 59"/>
            <p:cNvSpPr/>
            <p:nvPr userDrawn="1"/>
          </p:nvSpPr>
          <p:spPr>
            <a:xfrm rot="5400000">
              <a:off x="4508501" y="1124962"/>
              <a:ext cx="1168399" cy="4563535"/>
            </a:xfrm>
            <a:custGeom>
              <a:avLst/>
              <a:gdLst>
                <a:gd name="connsiteX0" fmla="*/ 0 w 6907593"/>
                <a:gd name="connsiteY0" fmla="*/ 0 h 1776503"/>
                <a:gd name="connsiteX1" fmla="*/ 6907593 w 6907593"/>
                <a:gd name="connsiteY1" fmla="*/ 1776503 h 1776503"/>
                <a:gd name="connsiteX2" fmla="*/ 0 w 6907593"/>
                <a:gd name="connsiteY2" fmla="*/ 1776503 h 1776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07593" h="1776503">
                  <a:moveTo>
                    <a:pt x="0" y="0"/>
                  </a:moveTo>
                  <a:lnTo>
                    <a:pt x="6907593" y="1776503"/>
                  </a:lnTo>
                  <a:lnTo>
                    <a:pt x="0" y="17765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>
                <a:solidFill>
                  <a:prstClr val="white"/>
                </a:solidFill>
              </a:endParaRPr>
            </a:p>
          </p:txBody>
        </p:sp>
        <p:sp>
          <p:nvSpPr>
            <p:cNvPr id="61" name="任意多边形 60"/>
            <p:cNvSpPr/>
            <p:nvPr userDrawn="1"/>
          </p:nvSpPr>
          <p:spPr>
            <a:xfrm rot="5400000">
              <a:off x="3938216" y="1695243"/>
              <a:ext cx="827303" cy="3081870"/>
            </a:xfrm>
            <a:custGeom>
              <a:avLst/>
              <a:gdLst>
                <a:gd name="connsiteX0" fmla="*/ 0 w 6907593"/>
                <a:gd name="connsiteY0" fmla="*/ 0 h 1776503"/>
                <a:gd name="connsiteX1" fmla="*/ 6907593 w 6907593"/>
                <a:gd name="connsiteY1" fmla="*/ 1776503 h 1776503"/>
                <a:gd name="connsiteX2" fmla="*/ 0 w 6907593"/>
                <a:gd name="connsiteY2" fmla="*/ 1776503 h 1776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07593" h="1776503">
                  <a:moveTo>
                    <a:pt x="0" y="0"/>
                  </a:moveTo>
                  <a:lnTo>
                    <a:pt x="6907593" y="1776503"/>
                  </a:lnTo>
                  <a:lnTo>
                    <a:pt x="0" y="1776503"/>
                  </a:lnTo>
                  <a:close/>
                </a:path>
              </a:pathLst>
            </a:custGeom>
            <a:solidFill>
              <a:schemeClr val="bg1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>
                <a:solidFill>
                  <a:prstClr val="white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H_Others_1"/>
          <p:cNvSpPr/>
          <p:nvPr userDrawn="1">
            <p:custDataLst>
              <p:tags r:id="rId1"/>
            </p:custDataLst>
          </p:nvPr>
        </p:nvSpPr>
        <p:spPr>
          <a:xfrm>
            <a:off x="10312400" y="449"/>
            <a:ext cx="1879600" cy="6857551"/>
          </a:xfrm>
          <a:prstGeom prst="rect">
            <a:avLst/>
          </a:pr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590" dirty="0">
              <a:solidFill>
                <a:prstClr val="white"/>
              </a:solidFill>
              <a:latin typeface="黑体" panose="02010609060101010101" pitchFamily="49" charset="-122"/>
              <a:ea typeface="黑体" panose="020106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4" name="MH_Others_2"/>
          <p:cNvSpPr/>
          <p:nvPr userDrawn="1">
            <p:custDataLst>
              <p:tags r:id="rId2"/>
            </p:custDataLst>
          </p:nvPr>
        </p:nvSpPr>
        <p:spPr>
          <a:xfrm>
            <a:off x="10011847" y="1"/>
            <a:ext cx="132066" cy="6861462"/>
          </a:xfrm>
          <a:prstGeom prst="rect">
            <a:avLst/>
          </a:pr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首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 userDrawn="1"/>
        </p:nvSpPr>
        <p:spPr>
          <a:xfrm>
            <a:off x="0" y="4438650"/>
            <a:ext cx="12188991" cy="2426627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  <a:gd name="connsiteX0-15" fmla="*/ 0 w 6907593"/>
              <a:gd name="connsiteY0-16" fmla="*/ 0 h 1776503"/>
              <a:gd name="connsiteX1-17" fmla="*/ 6907593 w 6907593"/>
              <a:gd name="connsiteY1-18" fmla="*/ 1776503 h 1776503"/>
              <a:gd name="connsiteX2-19" fmla="*/ 0 w 6907593"/>
              <a:gd name="connsiteY2-20" fmla="*/ 1776503 h 1776503"/>
              <a:gd name="connsiteX3-21" fmla="*/ 0 w 6907593"/>
              <a:gd name="connsiteY3-22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2091413" y="1639688"/>
                  <a:pt x="4374752" y="158722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sp>
        <p:nvSpPr>
          <p:cNvPr id="3" name="任意多边形 2"/>
          <p:cNvSpPr/>
          <p:nvPr userDrawn="1"/>
        </p:nvSpPr>
        <p:spPr>
          <a:xfrm flipH="1">
            <a:off x="6229348" y="5057775"/>
            <a:ext cx="5969693" cy="180773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1979235" y="1345282"/>
                  <a:pt x="4428718" y="176628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 userDrawn="1"/>
        </p:nvCxnSpPr>
        <p:spPr>
          <a:xfrm flipV="1">
            <a:off x="5013503" y="2190063"/>
            <a:ext cx="0" cy="199735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042969" y="2258053"/>
            <a:ext cx="1476644" cy="1476644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9" name="同心圆 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" name="椭圆 9"/>
            <p:cNvSpPr/>
            <p:nvPr userDrawn="1"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11" name="任意多边形 10"/>
          <p:cNvSpPr/>
          <p:nvPr userDrawn="1"/>
        </p:nvSpPr>
        <p:spPr>
          <a:xfrm rot="10800000" flipH="1">
            <a:off x="1" y="-4"/>
            <a:ext cx="2657474" cy="1752604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1979235" y="1345282"/>
                  <a:pt x="4428718" y="176628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综合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335360" y="277337"/>
            <a:ext cx="576064" cy="559375"/>
            <a:chOff x="298460" y="987574"/>
            <a:chExt cx="288032" cy="279687"/>
          </a:xfrm>
        </p:grpSpPr>
        <p:sp>
          <p:nvSpPr>
            <p:cNvPr id="5" name="矩形 4"/>
            <p:cNvSpPr/>
            <p:nvPr/>
          </p:nvSpPr>
          <p:spPr>
            <a:xfrm>
              <a:off x="298460" y="987574"/>
              <a:ext cx="216024" cy="21602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406472" y="1087241"/>
              <a:ext cx="180020" cy="180020"/>
            </a:xfrm>
            <a:prstGeom prst="rect">
              <a:avLst/>
            </a:prstGeom>
            <a:solidFill>
              <a:srgbClr val="E89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</p:grpSp>
      <p:pic>
        <p:nvPicPr>
          <p:cNvPr id="7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3455" y="349038"/>
            <a:ext cx="1569142" cy="39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直角三角形 7"/>
          <p:cNvSpPr/>
          <p:nvPr userDrawn="1"/>
        </p:nvSpPr>
        <p:spPr>
          <a:xfrm rot="10800000">
            <a:off x="84662" y="-2"/>
            <a:ext cx="12107337" cy="349040"/>
          </a:xfrm>
          <a:prstGeom prst="rtTriangle">
            <a:avLst/>
          </a:prstGeom>
          <a:gradFill flip="none" rotWithShape="1">
            <a:gsLst>
              <a:gs pos="0">
                <a:srgbClr val="5CC1EA">
                  <a:shade val="30000"/>
                  <a:satMod val="115000"/>
                  <a:alpha val="31000"/>
                </a:srgbClr>
              </a:gs>
              <a:gs pos="50000">
                <a:srgbClr val="5CC1EA">
                  <a:shade val="67500"/>
                  <a:satMod val="115000"/>
                </a:srgbClr>
              </a:gs>
              <a:gs pos="100000">
                <a:srgbClr val="5CC1EA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直角三角形 8"/>
          <p:cNvSpPr/>
          <p:nvPr userDrawn="1"/>
        </p:nvSpPr>
        <p:spPr>
          <a:xfrm>
            <a:off x="0" y="6417733"/>
            <a:ext cx="12107336" cy="440267"/>
          </a:xfrm>
          <a:prstGeom prst="rtTriangl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0">
                <a:schemeClr val="accent4">
                  <a:lumMod val="0"/>
                  <a:lumOff val="100000"/>
                </a:schemeClr>
              </a:gs>
              <a:gs pos="39000">
                <a:schemeClr val="accent4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35360" y="277337"/>
            <a:ext cx="576064" cy="559375"/>
            <a:chOff x="298460" y="987574"/>
            <a:chExt cx="288032" cy="279687"/>
          </a:xfrm>
        </p:grpSpPr>
        <p:sp>
          <p:nvSpPr>
            <p:cNvPr id="9" name="矩形 8"/>
            <p:cNvSpPr/>
            <p:nvPr/>
          </p:nvSpPr>
          <p:spPr>
            <a:xfrm>
              <a:off x="298460" y="987574"/>
              <a:ext cx="216024" cy="21602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06472" y="1087241"/>
              <a:ext cx="180020" cy="180020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</p:grpSp>
      <p:sp>
        <p:nvSpPr>
          <p:cNvPr id="3" name="直角三角形 2"/>
          <p:cNvSpPr/>
          <p:nvPr userDrawn="1"/>
        </p:nvSpPr>
        <p:spPr>
          <a:xfrm rot="10800000">
            <a:off x="84662" y="-2"/>
            <a:ext cx="12107337" cy="349040"/>
          </a:xfrm>
          <a:prstGeom prst="rtTriangle">
            <a:avLst/>
          </a:prstGeom>
          <a:gradFill flip="none" rotWithShape="1">
            <a:gsLst>
              <a:gs pos="0">
                <a:srgbClr val="5CC1EA">
                  <a:shade val="30000"/>
                  <a:satMod val="115000"/>
                  <a:alpha val="31000"/>
                </a:srgbClr>
              </a:gs>
              <a:gs pos="50000">
                <a:srgbClr val="5CC1EA">
                  <a:shade val="67500"/>
                  <a:satMod val="115000"/>
                </a:srgbClr>
              </a:gs>
              <a:gs pos="100000">
                <a:srgbClr val="5CC1EA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903498" y="-28448"/>
            <a:ext cx="15782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>
                <a:solidFill>
                  <a:srgbClr val="4472C4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讲</a:t>
            </a:r>
          </a:p>
        </p:txBody>
      </p:sp>
      <p:sp>
        <p:nvSpPr>
          <p:cNvPr id="15" name="直角三角形 14"/>
          <p:cNvSpPr/>
          <p:nvPr userDrawn="1"/>
        </p:nvSpPr>
        <p:spPr>
          <a:xfrm>
            <a:off x="0" y="6508960"/>
            <a:ext cx="12107337" cy="349040"/>
          </a:xfrm>
          <a:prstGeom prst="rtTriangle">
            <a:avLst/>
          </a:prstGeom>
          <a:gradFill flip="none" rotWithShape="1">
            <a:gsLst>
              <a:gs pos="0">
                <a:srgbClr val="5CC1EA">
                  <a:shade val="30000"/>
                  <a:satMod val="115000"/>
                  <a:alpha val="31000"/>
                </a:srgbClr>
              </a:gs>
              <a:gs pos="50000">
                <a:srgbClr val="5CC1EA">
                  <a:shade val="67500"/>
                  <a:satMod val="115000"/>
                </a:srgbClr>
              </a:gs>
              <a:gs pos="100000">
                <a:srgbClr val="5CC1EA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35360" y="277337"/>
            <a:ext cx="576064" cy="559375"/>
            <a:chOff x="298460" y="987574"/>
            <a:chExt cx="288032" cy="279687"/>
          </a:xfrm>
        </p:grpSpPr>
        <p:sp>
          <p:nvSpPr>
            <p:cNvPr id="9" name="矩形 8"/>
            <p:cNvSpPr/>
            <p:nvPr/>
          </p:nvSpPr>
          <p:spPr>
            <a:xfrm>
              <a:off x="298460" y="987574"/>
              <a:ext cx="216024" cy="216024"/>
            </a:xfrm>
            <a:prstGeom prst="rect">
              <a:avLst/>
            </a:prstGeom>
            <a:noFill/>
            <a:ln w="38100">
              <a:solidFill>
                <a:srgbClr val="E89E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06472" y="1087241"/>
              <a:ext cx="180020" cy="180020"/>
            </a:xfrm>
            <a:prstGeom prst="rect">
              <a:avLst/>
            </a:prstGeom>
            <a:solidFill>
              <a:srgbClr val="E89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</p:grpSp>
      <p:sp>
        <p:nvSpPr>
          <p:cNvPr id="14" name="直角三角形 13"/>
          <p:cNvSpPr/>
          <p:nvPr userDrawn="1"/>
        </p:nvSpPr>
        <p:spPr>
          <a:xfrm>
            <a:off x="0" y="6477000"/>
            <a:ext cx="12107336" cy="381000"/>
          </a:xfrm>
          <a:prstGeom prst="rtTriangl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0">
                <a:schemeClr val="accent4">
                  <a:lumMod val="0"/>
                  <a:lumOff val="100000"/>
                </a:schemeClr>
              </a:gs>
              <a:gs pos="39000">
                <a:schemeClr val="accent4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903498" y="-28448"/>
            <a:ext cx="15782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>
                <a:solidFill>
                  <a:srgbClr val="E89E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例</a:t>
            </a:r>
          </a:p>
        </p:txBody>
      </p:sp>
      <p:sp>
        <p:nvSpPr>
          <p:cNvPr id="11" name="直角三角形 10"/>
          <p:cNvSpPr/>
          <p:nvPr userDrawn="1"/>
        </p:nvSpPr>
        <p:spPr>
          <a:xfrm rot="10800000">
            <a:off x="84664" y="3977"/>
            <a:ext cx="12107336" cy="345367"/>
          </a:xfrm>
          <a:prstGeom prst="rtTriangl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0">
                <a:schemeClr val="accent4">
                  <a:lumMod val="0"/>
                  <a:lumOff val="100000"/>
                </a:schemeClr>
              </a:gs>
              <a:gs pos="39000">
                <a:schemeClr val="accent4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35360" y="277337"/>
            <a:ext cx="576064" cy="559375"/>
            <a:chOff x="298460" y="987574"/>
            <a:chExt cx="288032" cy="279687"/>
          </a:xfrm>
        </p:grpSpPr>
        <p:sp>
          <p:nvSpPr>
            <p:cNvPr id="9" name="矩形 8"/>
            <p:cNvSpPr/>
            <p:nvPr/>
          </p:nvSpPr>
          <p:spPr>
            <a:xfrm>
              <a:off x="298460" y="987574"/>
              <a:ext cx="216024" cy="216024"/>
            </a:xfrm>
            <a:prstGeom prst="rect">
              <a:avLst/>
            </a:prstGeom>
            <a:noFill/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06472" y="1087241"/>
              <a:ext cx="180020" cy="18002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</p:grpSp>
      <p:sp>
        <p:nvSpPr>
          <p:cNvPr id="3" name="直角三角形 2"/>
          <p:cNvSpPr/>
          <p:nvPr userDrawn="1"/>
        </p:nvSpPr>
        <p:spPr>
          <a:xfrm rot="10800000">
            <a:off x="84662" y="-2"/>
            <a:ext cx="12107337" cy="349040"/>
          </a:xfrm>
          <a:prstGeom prst="rtTriangle">
            <a:avLst/>
          </a:prstGeom>
          <a:gradFill flip="none" rotWithShape="1">
            <a:gsLst>
              <a:gs pos="100000">
                <a:schemeClr val="bg1"/>
              </a:gs>
              <a:gs pos="29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903498" y="-28448"/>
            <a:ext cx="15782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>
                <a:solidFill>
                  <a:prstClr val="white">
                    <a:lumMod val="50000"/>
                  </a:prst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练</a:t>
            </a:r>
          </a:p>
        </p:txBody>
      </p:sp>
      <p:sp>
        <p:nvSpPr>
          <p:cNvPr id="12" name="直角三角形 11"/>
          <p:cNvSpPr/>
          <p:nvPr userDrawn="1"/>
        </p:nvSpPr>
        <p:spPr>
          <a:xfrm>
            <a:off x="0" y="6508960"/>
            <a:ext cx="12107337" cy="349040"/>
          </a:xfrm>
          <a:prstGeom prst="rtTriangle">
            <a:avLst/>
          </a:prstGeom>
          <a:gradFill flip="none" rotWithShape="1">
            <a:gsLst>
              <a:gs pos="100000">
                <a:schemeClr val="bg1"/>
              </a:gs>
              <a:gs pos="29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117725" y="2665730"/>
            <a:ext cx="7816850" cy="172354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6600" dirty="0">
                <a:ln w="0"/>
                <a:solidFill>
                  <a:srgbClr val="157DA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机器人功能介绍</a:t>
            </a:r>
            <a:endParaRPr lang="en-US" altLang="zh-CN" sz="6600" dirty="0">
              <a:ln w="0"/>
              <a:solidFill>
                <a:srgbClr val="157DA8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CN" altLang="en-US" sz="2000" dirty="0">
                <a:ln w="0"/>
                <a:solidFill>
                  <a:srgbClr val="157DA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崔轩瑞</a:t>
            </a:r>
            <a:endParaRPr lang="en-US" altLang="zh-CN" sz="2000" dirty="0">
              <a:ln w="0"/>
              <a:solidFill>
                <a:srgbClr val="157DA8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altLang="zh-CN" sz="2000" dirty="0">
                <a:ln w="0"/>
                <a:solidFill>
                  <a:srgbClr val="157DA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2025.12</a:t>
            </a:r>
            <a:endParaRPr lang="zh-CN" altLang="en-US" sz="2000" dirty="0">
              <a:ln w="0"/>
              <a:solidFill>
                <a:srgbClr val="157DA8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265920" y="86360"/>
            <a:ext cx="29876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上海交通大学学生创新中心</a:t>
            </a:r>
          </a:p>
          <a:p>
            <a:r>
              <a:rPr lang="zh-CN" altLang="en-US" dirty="0"/>
              <a:t>上海仪酷智能科技有限公司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主要功能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042670" y="1339850"/>
            <a:ext cx="10248900" cy="19469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>
              <a:lnSpc>
                <a:spcPct val="120000"/>
              </a:lnSpc>
            </a:pPr>
            <a:r>
              <a:rPr lang="zh-CN" altLang="en-US" sz="2400" dirty="0"/>
              <a:t>和用户对话，聊天，完成用户的动作指令，和用户有眼神交流，深度陪伴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整体架构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68FDDAF-7381-07A9-3CAE-573FB1172E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698" y="900959"/>
            <a:ext cx="9141302" cy="55456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err="1"/>
              <a:t>asr_server</a:t>
            </a:r>
            <a:r>
              <a:rPr lang="en-US" altLang="zh-CN" sz="2400" b="1" dirty="0"/>
              <a:t> &amp; </a:t>
            </a:r>
            <a:r>
              <a:rPr lang="en-US" altLang="zh-CN" sz="2400" b="1" dirty="0" err="1"/>
              <a:t>tts_audio_server</a:t>
            </a:r>
            <a:endParaRPr lang="en-US" altLang="zh-CN" sz="24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A11DE22-8065-E017-E7E1-7815BB9C0B13}"/>
              </a:ext>
            </a:extLst>
          </p:cNvPr>
          <p:cNvSpPr txBox="1"/>
          <p:nvPr/>
        </p:nvSpPr>
        <p:spPr>
          <a:xfrm>
            <a:off x="779489" y="1266669"/>
            <a:ext cx="771243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asr</a:t>
            </a:r>
            <a:endParaRPr lang="en-US" altLang="zh-CN" dirty="0"/>
          </a:p>
          <a:p>
            <a:r>
              <a:rPr lang="zh-CN" altLang="en-US" dirty="0"/>
              <a:t>加载 </a:t>
            </a:r>
            <a:r>
              <a:rPr lang="en-US" altLang="zh-CN" dirty="0" err="1"/>
              <a:t>FunASR</a:t>
            </a:r>
            <a:r>
              <a:rPr lang="en-US" altLang="zh-CN" dirty="0"/>
              <a:t> </a:t>
            </a:r>
            <a:r>
              <a:rPr lang="zh-CN" altLang="en-US" dirty="0"/>
              <a:t>模型</a:t>
            </a:r>
          </a:p>
          <a:p>
            <a:r>
              <a:rPr lang="zh-CN" altLang="en-US" dirty="0"/>
              <a:t>连接 </a:t>
            </a:r>
            <a:r>
              <a:rPr lang="en-US" altLang="zh-CN" dirty="0"/>
              <a:t>MCP Text Server</a:t>
            </a:r>
          </a:p>
          <a:p>
            <a:r>
              <a:rPr lang="zh-CN" altLang="en-US" dirty="0"/>
              <a:t>连接机器人</a:t>
            </a:r>
            <a:endParaRPr lang="en-US" altLang="zh-CN" dirty="0"/>
          </a:p>
          <a:p>
            <a:r>
              <a:rPr lang="zh-CN" altLang="en-US" dirty="0"/>
              <a:t>将机器人文本转成语音，发送给中心</a:t>
            </a:r>
            <a:r>
              <a:rPr lang="en-US" altLang="zh-CN" dirty="0"/>
              <a:t>MCP</a:t>
            </a:r>
            <a:r>
              <a:rPr lang="zh-CN" altLang="en-US" dirty="0"/>
              <a:t>处理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tts</a:t>
            </a:r>
            <a:endParaRPr lang="en-US" altLang="zh-CN" dirty="0"/>
          </a:p>
          <a:p>
            <a:r>
              <a:rPr lang="zh-CN" altLang="en-US" dirty="0"/>
              <a:t>加载</a:t>
            </a:r>
            <a:r>
              <a:rPr lang="en-US" altLang="zh-CN" dirty="0" err="1"/>
              <a:t>kokoro</a:t>
            </a:r>
            <a:r>
              <a:rPr lang="zh-CN" altLang="en-US" dirty="0"/>
              <a:t>模型</a:t>
            </a:r>
            <a:endParaRPr lang="en-US" altLang="zh-CN" dirty="0"/>
          </a:p>
          <a:p>
            <a:r>
              <a:rPr lang="zh-CN" altLang="en-US" dirty="0"/>
              <a:t>连接</a:t>
            </a:r>
            <a:r>
              <a:rPr lang="en-US" altLang="zh-CN" dirty="0"/>
              <a:t>MCP Text Server</a:t>
            </a:r>
          </a:p>
          <a:p>
            <a:r>
              <a:rPr lang="zh-CN" altLang="en-US" dirty="0"/>
              <a:t>连接机器人</a:t>
            </a:r>
            <a:endParaRPr lang="en-US" altLang="zh-CN" dirty="0"/>
          </a:p>
          <a:p>
            <a:r>
              <a:rPr lang="zh-CN" altLang="en-US" dirty="0"/>
              <a:t>将</a:t>
            </a:r>
            <a:r>
              <a:rPr lang="en-US" altLang="zh-CN" dirty="0"/>
              <a:t>MCP</a:t>
            </a:r>
            <a:r>
              <a:rPr lang="zh-CN" altLang="en-US" dirty="0"/>
              <a:t>处理后的文本答案转为语音，发送给机器人播放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语音接收防止回声（机器人听到自己的声音，将自己</a:t>
            </a:r>
            <a:endParaRPr lang="en-US" altLang="zh-CN" dirty="0"/>
          </a:p>
          <a:p>
            <a:r>
              <a:rPr lang="zh-CN" altLang="en-US" dirty="0"/>
              <a:t>声音作为外界输入）</a:t>
            </a:r>
            <a:endParaRPr lang="en-US" altLang="zh-CN" dirty="0"/>
          </a:p>
          <a:p>
            <a:r>
              <a:rPr lang="zh-CN" altLang="en-US" dirty="0"/>
              <a:t>设置状态机，计算</a:t>
            </a:r>
            <a:r>
              <a:rPr lang="en-US" altLang="zh-CN" dirty="0" err="1"/>
              <a:t>kokoro</a:t>
            </a:r>
            <a:r>
              <a:rPr lang="zh-CN" altLang="en-US" dirty="0"/>
              <a:t>处理后的语音文本长度，在相</a:t>
            </a:r>
            <a:endParaRPr lang="en-US" altLang="zh-CN" dirty="0"/>
          </a:p>
          <a:p>
            <a:r>
              <a:rPr lang="zh-CN" altLang="en-US" dirty="0"/>
              <a:t>应时间内使</a:t>
            </a:r>
            <a:r>
              <a:rPr lang="en-US" altLang="zh-CN" dirty="0" err="1"/>
              <a:t>funasr</a:t>
            </a:r>
            <a:r>
              <a:rPr lang="zh-CN" altLang="en-US" dirty="0"/>
              <a:t>不接收语音</a:t>
            </a:r>
          </a:p>
        </p:txBody>
      </p:sp>
      <p:pic>
        <p:nvPicPr>
          <p:cNvPr id="9" name="图片 8" descr="电脑屏幕的照片上有文字&#10;&#10;AI 生成的内容可能不正确。">
            <a:extLst>
              <a:ext uri="{FF2B5EF4-FFF2-40B4-BE49-F238E27FC236}">
                <a16:creationId xmlns:a16="http://schemas.microsoft.com/office/drawing/2014/main" id="{714E62A7-AED2-E966-58BF-7332A984A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611" y="4313368"/>
            <a:ext cx="4413336" cy="2273687"/>
          </a:xfrm>
          <a:prstGeom prst="rect">
            <a:avLst/>
          </a:prstGeom>
        </p:spPr>
      </p:pic>
      <p:pic>
        <p:nvPicPr>
          <p:cNvPr id="11" name="图片 10" descr="文本&#10;&#10;AI 生成的内容可能不正确。">
            <a:extLst>
              <a:ext uri="{FF2B5EF4-FFF2-40B4-BE49-F238E27FC236}">
                <a16:creationId xmlns:a16="http://schemas.microsoft.com/office/drawing/2014/main" id="{5A771F5E-849C-D3A6-C622-EBCDFAFB4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2959" y="2705725"/>
            <a:ext cx="6586988" cy="126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520" y="294640"/>
            <a:ext cx="494411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err="1"/>
              <a:t>mcp_text_server</a:t>
            </a:r>
            <a:endParaRPr lang="en-US" altLang="zh-CN" sz="24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9F7A1F-ED7E-70F2-4E98-9BE5A379781C}"/>
              </a:ext>
            </a:extLst>
          </p:cNvPr>
          <p:cNvSpPr txBox="1"/>
          <p:nvPr/>
        </p:nvSpPr>
        <p:spPr>
          <a:xfrm>
            <a:off x="985520" y="1296649"/>
            <a:ext cx="71841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连接</a:t>
            </a:r>
            <a:r>
              <a:rPr lang="en-US" altLang="zh-CN" dirty="0" err="1"/>
              <a:t>asr</a:t>
            </a:r>
            <a:r>
              <a:rPr lang="zh-CN" altLang="en-US" dirty="0"/>
              <a:t>，</a:t>
            </a:r>
            <a:r>
              <a:rPr lang="en-US" altLang="zh-CN" dirty="0" err="1"/>
              <a:t>tts</a:t>
            </a:r>
            <a:r>
              <a:rPr lang="zh-CN" altLang="en-US" dirty="0"/>
              <a:t>，</a:t>
            </a:r>
            <a:r>
              <a:rPr lang="en-US" altLang="zh-CN" dirty="0" err="1"/>
              <a:t>robot_action_server</a:t>
            </a:r>
            <a:endParaRPr lang="en-US" altLang="zh-CN" dirty="0"/>
          </a:p>
          <a:p>
            <a:r>
              <a:rPr lang="zh-CN" altLang="en-US" dirty="0"/>
              <a:t>调用千问大模型，输出</a:t>
            </a:r>
            <a:r>
              <a:rPr lang="en-US" altLang="zh-CN" dirty="0" err="1"/>
              <a:t>jason</a:t>
            </a:r>
            <a:r>
              <a:rPr lang="zh-CN" altLang="en-US" dirty="0"/>
              <a:t>格式的回复和指定动作</a:t>
            </a:r>
            <a:endParaRPr lang="en-US" altLang="zh-CN" dirty="0"/>
          </a:p>
        </p:txBody>
      </p:sp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EAD55AA7-F707-FB97-7D0D-7C4472F40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414" y="2303421"/>
            <a:ext cx="3705742" cy="2086266"/>
          </a:xfrm>
          <a:prstGeom prst="rect">
            <a:avLst/>
          </a:prstGeom>
        </p:spPr>
      </p:pic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FFEE6CD9-AEF1-097C-8677-E2872B2AB2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0296" y="2303422"/>
            <a:ext cx="4073627" cy="21636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tracking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AEBFE02-4803-9E43-F64A-EBD10B1B8933}"/>
              </a:ext>
            </a:extLst>
          </p:cNvPr>
          <p:cNvSpPr txBox="1"/>
          <p:nvPr/>
        </p:nvSpPr>
        <p:spPr>
          <a:xfrm>
            <a:off x="891914" y="1603948"/>
            <a:ext cx="67530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调用</a:t>
            </a:r>
            <a:r>
              <a:rPr lang="en-US" altLang="zh-CN" dirty="0" err="1"/>
              <a:t>MediaPipe</a:t>
            </a:r>
            <a:r>
              <a:rPr lang="zh-CN" altLang="en-US" dirty="0"/>
              <a:t>大模型人脸检测</a:t>
            </a:r>
            <a:endParaRPr lang="en-US" altLang="zh-CN" dirty="0"/>
          </a:p>
          <a:p>
            <a:r>
              <a:rPr lang="zh-CN" altLang="en-US" dirty="0"/>
              <a:t>以云台（</a:t>
            </a:r>
            <a:r>
              <a:rPr lang="en-US" altLang="zh-CN" dirty="0"/>
              <a:t>1500</a:t>
            </a:r>
            <a:r>
              <a:rPr lang="zh-CN" altLang="en-US" dirty="0"/>
              <a:t>，</a:t>
            </a:r>
            <a:r>
              <a:rPr lang="en-US" altLang="zh-CN" dirty="0"/>
              <a:t>1500</a:t>
            </a:r>
            <a:r>
              <a:rPr lang="zh-CN" altLang="en-US" dirty="0"/>
              <a:t>）为中心，视野范围内无人则缓慢回到中心</a:t>
            </a:r>
            <a:endParaRPr lang="en-US" altLang="zh-CN" dirty="0"/>
          </a:p>
          <a:p>
            <a:r>
              <a:rPr lang="zh-CN" altLang="en-US" dirty="0"/>
              <a:t>若有人，则以检测框中心和视野中心计算</a:t>
            </a:r>
            <a:r>
              <a:rPr lang="en-US" altLang="zh-CN" dirty="0"/>
              <a:t>error</a:t>
            </a:r>
            <a:r>
              <a:rPr lang="zh-CN" altLang="en-US" dirty="0"/>
              <a:t>，进行</a:t>
            </a:r>
            <a:r>
              <a:rPr lang="en-US" altLang="zh-CN" dirty="0" err="1"/>
              <a:t>pid</a:t>
            </a:r>
            <a:r>
              <a:rPr lang="zh-CN" altLang="en-US" dirty="0"/>
              <a:t>跟踪人脸。</a:t>
            </a:r>
            <a:endParaRPr lang="en-US" altLang="zh-C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186014" y="3076017"/>
            <a:ext cx="4887877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prstClr val="black"/>
                </a:solidFill>
                <a:latin typeface="宋体" panose="02010600030101010101" pitchFamily="2" charset="-122"/>
              </a:rPr>
              <a:t>谢谢！</a:t>
            </a:r>
            <a:endParaRPr lang="en-US" altLang="zh-CN" sz="3600" b="1" dirty="0">
              <a:solidFill>
                <a:prstClr val="black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410"/>
  <p:tag name="MH_LIBRARY" val="CONTENTS"/>
  <p:tag name="MH_TYPE" val="OTHERS"/>
  <p:tag name="ID" val="54713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410"/>
  <p:tag name="MH_LIBRARY" val="CONTENTS"/>
  <p:tag name="MH_TYPE" val="OTHERS"/>
  <p:tag name="ID" val="54713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410"/>
  <p:tag name="MH_LIBRARY" val="CONTENTS"/>
  <p:tag name="MH_TYPE" val="OTHERS"/>
  <p:tag name="ID" val="54713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410"/>
  <p:tag name="MH_LIBRARY" val="CONTENTS"/>
  <p:tag name="MH_TYPE" val="OTHERS"/>
  <p:tag name="ID" val="547132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8575">
          <a:tailEnd type="none"/>
        </a:ln>
      </a:spPr>
      <a:bodyPr/>
      <a:lstStyle/>
      <a:style>
        <a:lnRef idx="3">
          <a:schemeClr val="accent4"/>
        </a:lnRef>
        <a:fillRef idx="0">
          <a:schemeClr val="accent4"/>
        </a:fillRef>
        <a:effectRef idx="2">
          <a:schemeClr val="accent4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>
          <a:solidFill>
            <a:srgbClr val="4472C4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337</TotalTime>
  <Words>214</Words>
  <Application>Microsoft Office PowerPoint</Application>
  <PresentationFormat>宽屏</PresentationFormat>
  <Paragraphs>39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黑体</vt:lpstr>
      <vt:lpstr>华文新魏</vt:lpstr>
      <vt:lpstr>华文行楷</vt:lpstr>
      <vt:lpstr>宋体</vt:lpstr>
      <vt:lpstr>Arial</vt:lpstr>
      <vt:lpstr>Calibri</vt:lpstr>
      <vt:lpstr>Office 主题</vt:lpstr>
      <vt:lpstr>2_Office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上海仪酷智能科技有限公司</dc:creator>
  <cp:lastModifiedBy>Raymond CUI</cp:lastModifiedBy>
  <cp:revision>1029</cp:revision>
  <dcterms:created xsi:type="dcterms:W3CDTF">2017-07-25T03:07:00Z</dcterms:created>
  <dcterms:modified xsi:type="dcterms:W3CDTF">2025-12-22T15:24:29Z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8841B4F7B610481D8E35DE8E2DF00779_13</vt:lpwstr>
  </property>
  <property fmtid="{D5CDD505-2E9C-101B-9397-08002B2CF9AE}" pid="3" name="KSOProductBuildVer">
    <vt:lpwstr>2052-12.1.0.23542</vt:lpwstr>
  </property>
</Properties>
</file>